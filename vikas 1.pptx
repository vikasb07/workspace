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8288000" cy="10287000"/>
  <p:notesSz cx="6858000" cy="9144000"/>
  <p:embeddedFontLst>
    <p:embeddedFont>
      <p:font typeface="Calibri" pitchFamily="34" charset="0"/>
      <p:regular r:id="rId9"/>
      <p:bold r:id="rId10"/>
      <p:italic r:id="rId11"/>
      <p:boldItalic r:id="rId12"/>
    </p:embeddedFont>
    <p:embeddedFont>
      <p:font typeface="Poppins Bold" charset="0"/>
      <p:regular r:id="rId13"/>
    </p:embeddedFont>
    <p:embeddedFont>
      <p:font typeface="Poppins" charset="0"/>
      <p:regular r:id="rId14"/>
    </p:embeddedFont>
    <p:embeddedFont>
      <p:font typeface="Rockwell Condensed" pitchFamily="18" charset="0"/>
      <p:regular r:id="rId15"/>
      <p:bold r:id="rId16"/>
    </p:embeddedFont>
    <p:embeddedFont>
      <p:font typeface="Corbel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73" autoAdjust="0"/>
  </p:normalViewPr>
  <p:slideViewPr>
    <p:cSldViewPr>
      <p:cViewPr varScale="1">
        <p:scale>
          <a:sx n="55" d="100"/>
          <a:sy n="55" d="100"/>
        </p:scale>
        <p:origin x="-6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strip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trips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2.svg"/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12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8.sv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svg"/><Relationship Id="rId7" Type="http://schemas.openxmlformats.org/officeDocument/2006/relationships/image" Target="../media/image2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8941" y="7277577"/>
            <a:ext cx="7225059" cy="1363688"/>
            <a:chOff x="0" y="0"/>
            <a:chExt cx="812800" cy="1534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53411"/>
            </a:xfrm>
            <a:custGeom>
              <a:avLst/>
              <a:gdLst/>
              <a:ahLst/>
              <a:cxnLst/>
              <a:rect l="l" t="t" r="r" b="b"/>
              <a:pathLst>
                <a:path w="812800" h="153411">
                  <a:moveTo>
                    <a:pt x="406400" y="0"/>
                  </a:moveTo>
                  <a:cubicBezTo>
                    <a:pt x="181951" y="0"/>
                    <a:pt x="0" y="34342"/>
                    <a:pt x="0" y="76706"/>
                  </a:cubicBezTo>
                  <a:cubicBezTo>
                    <a:pt x="0" y="119069"/>
                    <a:pt x="181951" y="153411"/>
                    <a:pt x="406400" y="153411"/>
                  </a:cubicBezTo>
                  <a:cubicBezTo>
                    <a:pt x="630849" y="153411"/>
                    <a:pt x="812800" y="119069"/>
                    <a:pt x="812800" y="76706"/>
                  </a:cubicBezTo>
                  <a:cubicBezTo>
                    <a:pt x="812800" y="343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42768"/>
              <a:ext cx="660400" cy="18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52780" y="2407800"/>
            <a:ext cx="6357380" cy="5675406"/>
          </a:xfrm>
          <a:custGeom>
            <a:avLst/>
            <a:gdLst/>
            <a:ahLst/>
            <a:cxnLst/>
            <a:rect l="l" t="t" r="r" b="b"/>
            <a:pathLst>
              <a:path w="6357380" h="5675406">
                <a:moveTo>
                  <a:pt x="0" y="0"/>
                </a:moveTo>
                <a:lnTo>
                  <a:pt x="6357380" y="0"/>
                </a:lnTo>
                <a:lnTo>
                  <a:pt x="6357380" y="5675407"/>
                </a:lnTo>
                <a:lnTo>
                  <a:pt x="0" y="5675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00602" y="6436778"/>
            <a:ext cx="919534" cy="919534"/>
          </a:xfrm>
          <a:custGeom>
            <a:avLst/>
            <a:gdLst/>
            <a:ahLst/>
            <a:cxnLst/>
            <a:rect l="l" t="t" r="r" b="b"/>
            <a:pathLst>
              <a:path w="919534" h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53512" y="1028700"/>
            <a:ext cx="2645212" cy="652904"/>
            <a:chOff x="0" y="0"/>
            <a:chExt cx="1646513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6513" cy="406400"/>
            </a:xfrm>
            <a:custGeom>
              <a:avLst/>
              <a:gdLst/>
              <a:ahLst/>
              <a:cxnLst/>
              <a:rect l="l" t="t" r="r" b="b"/>
              <a:pathLst>
                <a:path w="1646513" h="406400">
                  <a:moveTo>
                    <a:pt x="1443313" y="0"/>
                  </a:moveTo>
                  <a:cubicBezTo>
                    <a:pt x="1555537" y="0"/>
                    <a:pt x="1646513" y="90976"/>
                    <a:pt x="1646513" y="203200"/>
                  </a:cubicBezTo>
                  <a:cubicBezTo>
                    <a:pt x="1646513" y="315424"/>
                    <a:pt x="1555537" y="406400"/>
                    <a:pt x="14433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C89C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64651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112814" y="7000888"/>
            <a:ext cx="2225627" cy="2225627"/>
          </a:xfrm>
          <a:custGeom>
            <a:avLst/>
            <a:gdLst/>
            <a:ahLst/>
            <a:cxnLst/>
            <a:rect l="l" t="t" r="r" b="b"/>
            <a:pathLst>
              <a:path w="2225627" h="2225627">
                <a:moveTo>
                  <a:pt x="0" y="0"/>
                </a:moveTo>
                <a:lnTo>
                  <a:pt x="2225627" y="0"/>
                </a:lnTo>
                <a:lnTo>
                  <a:pt x="2225627" y="2225627"/>
                </a:lnTo>
                <a:lnTo>
                  <a:pt x="0" y="222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028700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00602" y="2609085"/>
            <a:ext cx="6826410" cy="177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600" b="1" dirty="0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The Role of Communication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22947" y="6351053"/>
            <a:ext cx="39217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Words. </a:t>
            </a:r>
            <a:r>
              <a:rPr lang="en-US" sz="2799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impression .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001256" y="1285848"/>
            <a:ext cx="3204609" cy="401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4000" dirty="0" smtClean="0">
                <a:solidFill>
                  <a:schemeClr val="accent1"/>
                </a:solidFill>
                <a:latin typeface="Rockwell Condensed" pitchFamily="18" charset="0"/>
                <a:ea typeface="Poppins"/>
                <a:cs typeface="Poppins"/>
                <a:sym typeface="Poppins"/>
              </a:rPr>
              <a:t>VIKAS.B</a:t>
            </a:r>
            <a:endParaRPr lang="en-US" sz="4000" dirty="0">
              <a:solidFill>
                <a:schemeClr val="accent1"/>
              </a:solidFill>
              <a:latin typeface="Rockwell Condensed" pitchFamily="18" charset="0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7188755" cy="8229600"/>
            <a:chOff x="0" y="0"/>
            <a:chExt cx="189333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3335" cy="2167467"/>
            </a:xfrm>
            <a:custGeom>
              <a:avLst/>
              <a:gdLst/>
              <a:ahLst/>
              <a:cxnLst/>
              <a:rect l="l" t="t" r="r" b="b"/>
              <a:pathLst>
                <a:path w="1893335" h="2167467">
                  <a:moveTo>
                    <a:pt x="0" y="0"/>
                  </a:moveTo>
                  <a:lnTo>
                    <a:pt x="1893335" y="0"/>
                  </a:lnTo>
                  <a:lnTo>
                    <a:pt x="189333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B5CCE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93335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49169" y="7077536"/>
            <a:ext cx="6681431" cy="1261081"/>
            <a:chOff x="0" y="0"/>
            <a:chExt cx="812800" cy="1534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53411"/>
            </a:xfrm>
            <a:custGeom>
              <a:avLst/>
              <a:gdLst/>
              <a:ahLst/>
              <a:cxnLst/>
              <a:rect l="l" t="t" r="r" b="b"/>
              <a:pathLst>
                <a:path w="812800" h="153411">
                  <a:moveTo>
                    <a:pt x="406400" y="0"/>
                  </a:moveTo>
                  <a:cubicBezTo>
                    <a:pt x="181951" y="0"/>
                    <a:pt x="0" y="34342"/>
                    <a:pt x="0" y="76706"/>
                  </a:cubicBezTo>
                  <a:cubicBezTo>
                    <a:pt x="0" y="119069"/>
                    <a:pt x="181951" y="153411"/>
                    <a:pt x="406400" y="153411"/>
                  </a:cubicBezTo>
                  <a:cubicBezTo>
                    <a:pt x="630849" y="153411"/>
                    <a:pt x="812800" y="119069"/>
                    <a:pt x="812800" y="76706"/>
                  </a:cubicBezTo>
                  <a:cubicBezTo>
                    <a:pt x="812800" y="343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42768"/>
              <a:ext cx="660400" cy="18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5565" y="3206432"/>
            <a:ext cx="5595587" cy="496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Communication is one of the most essential tools for any leader. It shapes how a team understands goals, handles challenges, and builds relationships. This presentation focuses on how effective communication can enhance leadership impact across all levels of an organization.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147847" y="1948383"/>
            <a:ext cx="5484076" cy="6081133"/>
          </a:xfrm>
          <a:custGeom>
            <a:avLst/>
            <a:gdLst/>
            <a:ahLst/>
            <a:cxnLst/>
            <a:rect l="l" t="t" r="r" b="b"/>
            <a:pathLst>
              <a:path w="5484076" h="6081133">
                <a:moveTo>
                  <a:pt x="0" y="0"/>
                </a:moveTo>
                <a:lnTo>
                  <a:pt x="5484076" y="0"/>
                </a:lnTo>
                <a:lnTo>
                  <a:pt x="5484076" y="6081133"/>
                </a:lnTo>
                <a:lnTo>
                  <a:pt x="0" y="6081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5565" y="1931717"/>
            <a:ext cx="6491890" cy="115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69059" y="1028700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18941" y="8482071"/>
            <a:ext cx="4858528" cy="917019"/>
            <a:chOff x="0" y="0"/>
            <a:chExt cx="812800" cy="1534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53411"/>
            </a:xfrm>
            <a:custGeom>
              <a:avLst/>
              <a:gdLst/>
              <a:ahLst/>
              <a:cxnLst/>
              <a:rect l="l" t="t" r="r" b="b"/>
              <a:pathLst>
                <a:path w="812800" h="153411">
                  <a:moveTo>
                    <a:pt x="406400" y="0"/>
                  </a:moveTo>
                  <a:cubicBezTo>
                    <a:pt x="181951" y="0"/>
                    <a:pt x="0" y="34342"/>
                    <a:pt x="0" y="76706"/>
                  </a:cubicBezTo>
                  <a:cubicBezTo>
                    <a:pt x="0" y="119069"/>
                    <a:pt x="181951" y="153411"/>
                    <a:pt x="406400" y="153411"/>
                  </a:cubicBezTo>
                  <a:cubicBezTo>
                    <a:pt x="630849" y="153411"/>
                    <a:pt x="812800" y="119069"/>
                    <a:pt x="812800" y="76706"/>
                  </a:cubicBezTo>
                  <a:cubicBezTo>
                    <a:pt x="812800" y="343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-42768"/>
              <a:ext cx="660400" cy="18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848082" y="4374360"/>
            <a:ext cx="4129149" cy="4883940"/>
          </a:xfrm>
          <a:custGeom>
            <a:avLst/>
            <a:gdLst/>
            <a:ahLst/>
            <a:cxnLst/>
            <a:rect l="l" t="t" r="r" b="b"/>
            <a:pathLst>
              <a:path w="4129149" h="4883940">
                <a:moveTo>
                  <a:pt x="0" y="0"/>
                </a:moveTo>
                <a:lnTo>
                  <a:pt x="4129149" y="0"/>
                </a:lnTo>
                <a:lnTo>
                  <a:pt x="4129149" y="4883940"/>
                </a:lnTo>
                <a:lnTo>
                  <a:pt x="0" y="4883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306947" y="1712979"/>
            <a:ext cx="19076935" cy="2073933"/>
            <a:chOff x="0" y="0"/>
            <a:chExt cx="5024378" cy="5462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24378" cy="546221"/>
            </a:xfrm>
            <a:custGeom>
              <a:avLst/>
              <a:gdLst/>
              <a:ahLst/>
              <a:cxnLst/>
              <a:rect l="l" t="t" r="r" b="b"/>
              <a:pathLst>
                <a:path w="5024378" h="546221">
                  <a:moveTo>
                    <a:pt x="0" y="0"/>
                  </a:moveTo>
                  <a:lnTo>
                    <a:pt x="5024378" y="0"/>
                  </a:lnTo>
                  <a:lnTo>
                    <a:pt x="5024378" y="546221"/>
                  </a:lnTo>
                  <a:lnTo>
                    <a:pt x="0" y="546221"/>
                  </a:ln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B5CCE2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024378" cy="603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123443"/>
            <a:ext cx="16230600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dirty="0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Why Communication </a:t>
            </a:r>
            <a:r>
              <a:rPr lang="en-US" sz="5600" b="1" dirty="0" smtClean="0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?</a:t>
            </a:r>
            <a:endParaRPr lang="en-US" sz="5600" b="1" dirty="0">
              <a:solidFill>
                <a:srgbClr val="326C9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286612" y="3929054"/>
            <a:ext cx="8399298" cy="650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r>
              <a:rPr lang="en-US" sz="4400" dirty="0" smtClean="0">
                <a:latin typeface="Corbel" pitchFamily="34" charset="0"/>
              </a:rPr>
              <a:t>Good communication leads to employability.</a:t>
            </a:r>
          </a:p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endParaRPr lang="en-US" sz="4400" dirty="0" smtClean="0">
              <a:latin typeface="Corbel" pitchFamily="34" charset="0"/>
            </a:endParaRPr>
          </a:p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r>
              <a:rPr lang="en-US" sz="4400" dirty="0" smtClean="0">
                <a:latin typeface="Corbel" pitchFamily="34" charset="0"/>
              </a:rPr>
              <a:t>Help others to be aware of all fields.</a:t>
            </a:r>
          </a:p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endParaRPr lang="en-US" sz="4400" dirty="0" smtClean="0">
              <a:latin typeface="Corbel" pitchFamily="34" charset="0"/>
            </a:endParaRPr>
          </a:p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r>
              <a:rPr lang="en-US" sz="4400" dirty="0" smtClean="0">
                <a:latin typeface="Corbel" pitchFamily="34" charset="0"/>
              </a:rPr>
              <a:t>Good communication skill can build best team spirit to complete a task.</a:t>
            </a:r>
          </a:p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endParaRPr lang="en-US" sz="4400" dirty="0" smtClean="0">
              <a:latin typeface="Corbel" pitchFamily="34" charset="0"/>
            </a:endParaRPr>
          </a:p>
          <a:p>
            <a:pPr marL="514350" indent="-514350" algn="just">
              <a:lnSpc>
                <a:spcPts val="3919"/>
              </a:lnSpc>
              <a:buFont typeface="Wingdings" pitchFamily="2" charset="2"/>
              <a:buChar char="Ø"/>
            </a:pPr>
            <a:r>
              <a:rPr lang="en-US" sz="4400" dirty="0" smtClean="0">
                <a:latin typeface="Corbel" pitchFamily="34" charset="0"/>
              </a:rPr>
              <a:t> Being an inspiration to others , can build their own personality</a:t>
            </a:r>
            <a:endParaRPr lang="en-US" sz="4400" dirty="0" smtClean="0">
              <a:latin typeface="Corbel" pitchFamily="34" charset="0"/>
              <a:ea typeface="Poppins"/>
              <a:cs typeface="Poppins"/>
              <a:sym typeface="Poppins"/>
            </a:endParaRPr>
          </a:p>
          <a:p>
            <a:pPr algn="just">
              <a:lnSpc>
                <a:spcPts val="3919"/>
              </a:lnSpc>
            </a:pPr>
            <a:endParaRPr lang="en-US" sz="2799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28700" y="1028700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721268" y="3975625"/>
            <a:ext cx="4874040" cy="2943971"/>
            <a:chOff x="0" y="0"/>
            <a:chExt cx="1009254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9254" cy="609600"/>
            </a:xfrm>
            <a:custGeom>
              <a:avLst/>
              <a:gdLst/>
              <a:ahLst/>
              <a:cxnLst/>
              <a:rect l="l" t="t" r="r" b="b"/>
              <a:pathLst>
                <a:path w="1009254" h="609600">
                  <a:moveTo>
                    <a:pt x="80605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009254" y="609600"/>
                  </a:lnTo>
                  <a:lnTo>
                    <a:pt x="80605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B5CCE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600" y="-47625"/>
              <a:ext cx="806054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9536976" y="2401248"/>
            <a:ext cx="7731849" cy="1790446"/>
            <a:chOff x="0" y="0"/>
            <a:chExt cx="2749102" cy="6366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9102" cy="636603"/>
            </a:xfrm>
            <a:custGeom>
              <a:avLst/>
              <a:gdLst/>
              <a:ahLst/>
              <a:cxnLst/>
              <a:rect l="l" t="t" r="r" b="b"/>
              <a:pathLst>
                <a:path w="2749102" h="636603">
                  <a:moveTo>
                    <a:pt x="0" y="0"/>
                  </a:moveTo>
                  <a:lnTo>
                    <a:pt x="2749102" y="0"/>
                  </a:lnTo>
                  <a:lnTo>
                    <a:pt x="2749102" y="636603"/>
                  </a:lnTo>
                  <a:lnTo>
                    <a:pt x="0" y="636603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1FF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49102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683042"/>
            <a:ext cx="7731849" cy="1790446"/>
            <a:chOff x="0" y="0"/>
            <a:chExt cx="2749102" cy="6366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49102" cy="636603"/>
            </a:xfrm>
            <a:custGeom>
              <a:avLst/>
              <a:gdLst/>
              <a:ahLst/>
              <a:cxnLst/>
              <a:rect l="l" t="t" r="r" b="b"/>
              <a:pathLst>
                <a:path w="2749102" h="636603">
                  <a:moveTo>
                    <a:pt x="0" y="0"/>
                  </a:moveTo>
                  <a:lnTo>
                    <a:pt x="2749102" y="0"/>
                  </a:lnTo>
                  <a:lnTo>
                    <a:pt x="2749102" y="636603"/>
                  </a:lnTo>
                  <a:lnTo>
                    <a:pt x="0" y="636603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1FF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49102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866775"/>
            <a:ext cx="9142915" cy="200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dirty="0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Key Communication Skills </a:t>
            </a:r>
          </a:p>
        </p:txBody>
      </p:sp>
      <p:grpSp>
        <p:nvGrpSpPr>
          <p:cNvPr id="12" name="Group 12"/>
          <p:cNvGrpSpPr/>
          <p:nvPr/>
        </p:nvGrpSpPr>
        <p:grpSpPr>
          <a:xfrm rot="-10800000">
            <a:off x="9153525" y="5094375"/>
            <a:ext cx="8114083" cy="1790446"/>
            <a:chOff x="0" y="0"/>
            <a:chExt cx="2885007" cy="6366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85007" cy="636603"/>
            </a:xfrm>
            <a:custGeom>
              <a:avLst/>
              <a:gdLst/>
              <a:ahLst/>
              <a:cxnLst/>
              <a:rect l="l" t="t" r="r" b="b"/>
              <a:pathLst>
                <a:path w="2885007" h="636603">
                  <a:moveTo>
                    <a:pt x="0" y="0"/>
                  </a:moveTo>
                  <a:lnTo>
                    <a:pt x="2885007" y="0"/>
                  </a:lnTo>
                  <a:lnTo>
                    <a:pt x="2885007" y="636603"/>
                  </a:lnTo>
                  <a:lnTo>
                    <a:pt x="0" y="636603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1FF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885007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526490" y="4928480"/>
            <a:ext cx="2155518" cy="2155518"/>
          </a:xfrm>
          <a:custGeom>
            <a:avLst/>
            <a:gdLst/>
            <a:ahLst/>
            <a:cxnLst/>
            <a:rect l="l" t="t" r="r" b="b"/>
            <a:pathLst>
              <a:path w="2155518" h="2155518">
                <a:moveTo>
                  <a:pt x="0" y="0"/>
                </a:moveTo>
                <a:lnTo>
                  <a:pt x="2155518" y="0"/>
                </a:lnTo>
                <a:lnTo>
                  <a:pt x="2155518" y="2155518"/>
                </a:lnTo>
                <a:lnTo>
                  <a:pt x="0" y="215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706333" y="5094375"/>
            <a:ext cx="1809779" cy="180977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1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17268825" y="5094375"/>
            <a:ext cx="1028700" cy="1790446"/>
            <a:chOff x="0" y="0"/>
            <a:chExt cx="365760" cy="6366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5760" cy="636603"/>
            </a:xfrm>
            <a:custGeom>
              <a:avLst/>
              <a:gdLst/>
              <a:ahLst/>
              <a:cxnLst/>
              <a:rect l="l" t="t" r="r" b="b"/>
              <a:pathLst>
                <a:path w="365760" h="636603">
                  <a:moveTo>
                    <a:pt x="0" y="0"/>
                  </a:moveTo>
                  <a:lnTo>
                    <a:pt x="365760" y="0"/>
                  </a:lnTo>
                  <a:lnTo>
                    <a:pt x="365760" y="636603"/>
                  </a:lnTo>
                  <a:lnTo>
                    <a:pt x="0" y="6366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65760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9536976" y="2235353"/>
            <a:ext cx="2155518" cy="2155518"/>
          </a:xfrm>
          <a:custGeom>
            <a:avLst/>
            <a:gdLst/>
            <a:ahLst/>
            <a:cxnLst/>
            <a:rect l="l" t="t" r="r" b="b"/>
            <a:pathLst>
              <a:path w="2155518" h="2155518">
                <a:moveTo>
                  <a:pt x="0" y="0"/>
                </a:moveTo>
                <a:lnTo>
                  <a:pt x="2155517" y="0"/>
                </a:lnTo>
                <a:lnTo>
                  <a:pt x="2155517" y="2155517"/>
                </a:lnTo>
                <a:lnTo>
                  <a:pt x="0" y="2155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704216" y="2388645"/>
            <a:ext cx="1834985" cy="183498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1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17279310" y="2401248"/>
            <a:ext cx="1028700" cy="1790446"/>
            <a:chOff x="0" y="0"/>
            <a:chExt cx="365760" cy="6366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5760" cy="636603"/>
            </a:xfrm>
            <a:custGeom>
              <a:avLst/>
              <a:gdLst/>
              <a:ahLst/>
              <a:cxnLst/>
              <a:rect l="l" t="t" r="r" b="b"/>
              <a:pathLst>
                <a:path w="365760" h="636603">
                  <a:moveTo>
                    <a:pt x="0" y="0"/>
                  </a:moveTo>
                  <a:lnTo>
                    <a:pt x="365760" y="0"/>
                  </a:lnTo>
                  <a:lnTo>
                    <a:pt x="365760" y="636603"/>
                  </a:lnTo>
                  <a:lnTo>
                    <a:pt x="0" y="6366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365760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1506" y="4000492"/>
            <a:ext cx="8114083" cy="1790446"/>
            <a:chOff x="0" y="0"/>
            <a:chExt cx="2885007" cy="6366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85007" cy="636603"/>
            </a:xfrm>
            <a:custGeom>
              <a:avLst/>
              <a:gdLst/>
              <a:ahLst/>
              <a:cxnLst/>
              <a:rect l="l" t="t" r="r" b="b"/>
              <a:pathLst>
                <a:path w="2885007" h="636603">
                  <a:moveTo>
                    <a:pt x="0" y="0"/>
                  </a:moveTo>
                  <a:lnTo>
                    <a:pt x="2885007" y="0"/>
                  </a:lnTo>
                  <a:lnTo>
                    <a:pt x="2885007" y="636603"/>
                  </a:lnTo>
                  <a:lnTo>
                    <a:pt x="0" y="636603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1FF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2885007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-10800000">
            <a:off x="6615517" y="3790738"/>
            <a:ext cx="2155518" cy="2155518"/>
          </a:xfrm>
          <a:custGeom>
            <a:avLst/>
            <a:gdLst/>
            <a:ahLst/>
            <a:cxnLst/>
            <a:rect l="l" t="t" r="r" b="b"/>
            <a:pathLst>
              <a:path w="2155518" h="2155518">
                <a:moveTo>
                  <a:pt x="0" y="0"/>
                </a:moveTo>
                <a:lnTo>
                  <a:pt x="2155518" y="0"/>
                </a:lnTo>
                <a:lnTo>
                  <a:pt x="2155518" y="2155518"/>
                </a:lnTo>
                <a:lnTo>
                  <a:pt x="0" y="215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 rot="-10800000">
            <a:off x="6781413" y="3970581"/>
            <a:ext cx="1809779" cy="180977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1FFFF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369059" y="1028700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0" y="3989914"/>
            <a:ext cx="1028700" cy="1790446"/>
            <a:chOff x="0" y="0"/>
            <a:chExt cx="365760" cy="63660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65760" cy="636603"/>
            </a:xfrm>
            <a:custGeom>
              <a:avLst/>
              <a:gdLst/>
              <a:ahLst/>
              <a:cxnLst/>
              <a:rect l="l" t="t" r="r" b="b"/>
              <a:pathLst>
                <a:path w="365760" h="636603">
                  <a:moveTo>
                    <a:pt x="0" y="0"/>
                  </a:moveTo>
                  <a:lnTo>
                    <a:pt x="365760" y="0"/>
                  </a:lnTo>
                  <a:lnTo>
                    <a:pt x="365760" y="636603"/>
                  </a:lnTo>
                  <a:lnTo>
                    <a:pt x="0" y="6366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365760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 rot="-10800000">
            <a:off x="6605032" y="6483866"/>
            <a:ext cx="2155518" cy="2155518"/>
          </a:xfrm>
          <a:custGeom>
            <a:avLst/>
            <a:gdLst/>
            <a:ahLst/>
            <a:cxnLst/>
            <a:rect l="l" t="t" r="r" b="b"/>
            <a:pathLst>
              <a:path w="2155518" h="2155518">
                <a:moveTo>
                  <a:pt x="0" y="0"/>
                </a:moveTo>
                <a:lnTo>
                  <a:pt x="2155517" y="0"/>
                </a:lnTo>
                <a:lnTo>
                  <a:pt x="2155517" y="2155517"/>
                </a:lnTo>
                <a:lnTo>
                  <a:pt x="0" y="2155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2" name="Group 42"/>
          <p:cNvGrpSpPr/>
          <p:nvPr/>
        </p:nvGrpSpPr>
        <p:grpSpPr>
          <a:xfrm rot="-10800000">
            <a:off x="6758325" y="6651106"/>
            <a:ext cx="1834985" cy="1834985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1FFFF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0485" y="6683042"/>
            <a:ext cx="1028700" cy="1790446"/>
            <a:chOff x="0" y="0"/>
            <a:chExt cx="365760" cy="63660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760" cy="636603"/>
            </a:xfrm>
            <a:custGeom>
              <a:avLst/>
              <a:gdLst/>
              <a:ahLst/>
              <a:cxnLst/>
              <a:rect l="l" t="t" r="r" b="b"/>
              <a:pathLst>
                <a:path w="365760" h="636603">
                  <a:moveTo>
                    <a:pt x="0" y="0"/>
                  </a:moveTo>
                  <a:lnTo>
                    <a:pt x="365760" y="0"/>
                  </a:lnTo>
                  <a:lnTo>
                    <a:pt x="365760" y="636603"/>
                  </a:lnTo>
                  <a:lnTo>
                    <a:pt x="0" y="6366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365760" cy="68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7152789" y="4455761"/>
            <a:ext cx="1080975" cy="825472"/>
          </a:xfrm>
          <a:custGeom>
            <a:avLst/>
            <a:gdLst/>
            <a:ahLst/>
            <a:cxnLst/>
            <a:rect l="l" t="t" r="r" b="b"/>
            <a:pathLst>
              <a:path w="1080975" h="825472">
                <a:moveTo>
                  <a:pt x="0" y="0"/>
                </a:moveTo>
                <a:lnTo>
                  <a:pt x="1080974" y="0"/>
                </a:lnTo>
                <a:lnTo>
                  <a:pt x="1080974" y="825472"/>
                </a:lnTo>
                <a:lnTo>
                  <a:pt x="0" y="8254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127482" y="2881420"/>
            <a:ext cx="953534" cy="863382"/>
          </a:xfrm>
          <a:custGeom>
            <a:avLst/>
            <a:gdLst/>
            <a:ahLst/>
            <a:cxnLst/>
            <a:rect l="l" t="t" r="r" b="b"/>
            <a:pathLst>
              <a:path w="953534" h="863382">
                <a:moveTo>
                  <a:pt x="0" y="0"/>
                </a:moveTo>
                <a:lnTo>
                  <a:pt x="953534" y="0"/>
                </a:lnTo>
                <a:lnTo>
                  <a:pt x="953534" y="863383"/>
                </a:lnTo>
                <a:lnTo>
                  <a:pt x="0" y="863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0" name="Freeform 50"/>
          <p:cNvSpPr/>
          <p:nvPr/>
        </p:nvSpPr>
        <p:spPr>
          <a:xfrm>
            <a:off x="7037102" y="6924356"/>
            <a:ext cx="1117211" cy="1174887"/>
          </a:xfrm>
          <a:custGeom>
            <a:avLst/>
            <a:gdLst/>
            <a:ahLst/>
            <a:cxnLst/>
            <a:rect l="l" t="t" r="r" b="b"/>
            <a:pathLst>
              <a:path w="1117211" h="1174887">
                <a:moveTo>
                  <a:pt x="0" y="0"/>
                </a:moveTo>
                <a:lnTo>
                  <a:pt x="1117211" y="0"/>
                </a:lnTo>
                <a:lnTo>
                  <a:pt x="1117211" y="1174887"/>
                </a:lnTo>
                <a:lnTo>
                  <a:pt x="0" y="1174887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print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178204" y="5753038"/>
            <a:ext cx="887008" cy="506401"/>
          </a:xfrm>
          <a:custGeom>
            <a:avLst/>
            <a:gdLst/>
            <a:ahLst/>
            <a:cxnLst/>
            <a:rect l="l" t="t" r="r" b="b"/>
            <a:pathLst>
              <a:path w="887008" h="506401">
                <a:moveTo>
                  <a:pt x="0" y="0"/>
                </a:moveTo>
                <a:lnTo>
                  <a:pt x="887008" y="0"/>
                </a:lnTo>
                <a:lnTo>
                  <a:pt x="887008" y="506401"/>
                </a:lnTo>
                <a:lnTo>
                  <a:pt x="0" y="5064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3073090" y="2571732"/>
            <a:ext cx="4352993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Volume and clarity</a:t>
            </a:r>
          </a:p>
          <a:p>
            <a:pPr algn="r">
              <a:lnSpc>
                <a:spcPts val="3919"/>
              </a:lnSpc>
            </a:pPr>
            <a:endParaRPr lang="en-US" sz="3600" b="1" dirty="0">
              <a:solidFill>
                <a:schemeClr val="accent1">
                  <a:lumMod val="75000"/>
                </a:schemeClr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3915403" y="5233076"/>
            <a:ext cx="3343897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</a:rPr>
              <a:t>Confidence</a:t>
            </a:r>
          </a:p>
          <a:p>
            <a:pPr algn="r">
              <a:lnSpc>
                <a:spcPts val="3919"/>
              </a:lnSpc>
            </a:pPr>
            <a:endParaRPr lang="en-US" sz="2799" b="1" dirty="0">
              <a:solidFill>
                <a:srgbClr val="326C9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029917" y="4174429"/>
            <a:ext cx="3345115" cy="50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Active Listening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9917" y="4753343"/>
            <a:ext cx="4985210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 smtClean="0">
                <a:solidFill>
                  <a:srgbClr val="001D35"/>
                </a:solidFill>
                <a:latin typeface="Google Sans"/>
              </a:rPr>
              <a:t> Focus on the speaker . </a:t>
            </a:r>
            <a:r>
              <a:rPr lang="en-US" sz="2400" dirty="0" smtClean="0"/>
              <a:t>Seek to understand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203476" y="3163705"/>
            <a:ext cx="4055824" cy="74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Showing understanding builds emotional connection.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548572" y="5826842"/>
            <a:ext cx="3710728" cy="74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Reliable messages build trust and stability.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8564" y="7000888"/>
            <a:ext cx="4857848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Adapting  communication style</a:t>
            </a:r>
          </a:p>
          <a:p>
            <a:pPr algn="l">
              <a:lnSpc>
                <a:spcPts val="3919"/>
              </a:lnSpc>
            </a:pPr>
            <a:endParaRPr lang="en-US" sz="2799" b="1" dirty="0">
              <a:solidFill>
                <a:schemeClr val="accent1">
                  <a:lumMod val="75000"/>
                </a:schemeClr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428565" y="7454649"/>
            <a:ext cx="4335962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 smtClean="0"/>
              <a:t>changing your tone, language, and approach depending on who you're speaking to</a:t>
            </a:r>
            <a:r>
              <a:rPr lang="en-US" sz="2100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944" y="1000096"/>
            <a:ext cx="7787044" cy="8229600"/>
            <a:chOff x="0" y="0"/>
            <a:chExt cx="205090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0909" cy="2167467"/>
            </a:xfrm>
            <a:custGeom>
              <a:avLst/>
              <a:gdLst/>
              <a:ahLst/>
              <a:cxnLst/>
              <a:rect l="l" t="t" r="r" b="b"/>
              <a:pathLst>
                <a:path w="2050909" h="2167467">
                  <a:moveTo>
                    <a:pt x="0" y="0"/>
                  </a:moveTo>
                  <a:lnTo>
                    <a:pt x="2050909" y="0"/>
                  </a:lnTo>
                  <a:lnTo>
                    <a:pt x="205090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B5CCE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50909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09419" y="6667472"/>
            <a:ext cx="6681431" cy="1261081"/>
            <a:chOff x="0" y="0"/>
            <a:chExt cx="812800" cy="1534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53411"/>
            </a:xfrm>
            <a:custGeom>
              <a:avLst/>
              <a:gdLst/>
              <a:ahLst/>
              <a:cxnLst/>
              <a:rect l="l" t="t" r="r" b="b"/>
              <a:pathLst>
                <a:path w="812800" h="153411">
                  <a:moveTo>
                    <a:pt x="406400" y="0"/>
                  </a:moveTo>
                  <a:cubicBezTo>
                    <a:pt x="181951" y="0"/>
                    <a:pt x="0" y="34342"/>
                    <a:pt x="0" y="76706"/>
                  </a:cubicBezTo>
                  <a:cubicBezTo>
                    <a:pt x="0" y="119069"/>
                    <a:pt x="181951" y="153411"/>
                    <a:pt x="406400" y="153411"/>
                  </a:cubicBezTo>
                  <a:cubicBezTo>
                    <a:pt x="630849" y="153411"/>
                    <a:pt x="812800" y="119069"/>
                    <a:pt x="812800" y="76706"/>
                  </a:cubicBezTo>
                  <a:cubicBezTo>
                    <a:pt x="812800" y="343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42768"/>
              <a:ext cx="660400" cy="18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69059" y="1028700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12259" y="1935615"/>
            <a:ext cx="5675750" cy="5582874"/>
          </a:xfrm>
          <a:custGeom>
            <a:avLst/>
            <a:gdLst/>
            <a:ahLst/>
            <a:cxnLst/>
            <a:rect l="l" t="t" r="r" b="b"/>
            <a:pathLst>
              <a:path w="5675750" h="5582874">
                <a:moveTo>
                  <a:pt x="0" y="0"/>
                </a:moveTo>
                <a:lnTo>
                  <a:pt x="5675750" y="0"/>
                </a:lnTo>
                <a:lnTo>
                  <a:pt x="5675750" y="5582874"/>
                </a:lnTo>
                <a:lnTo>
                  <a:pt x="0" y="55828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57258" y="1285848"/>
            <a:ext cx="7556278" cy="908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400" b="1" dirty="0" smtClean="0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TYPES</a:t>
            </a:r>
            <a:endParaRPr lang="en-US" sz="4400" b="1" dirty="0">
              <a:solidFill>
                <a:srgbClr val="326C9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3" name="Picture 12" descr="types of communication_ - visual sele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754" y="2000228"/>
            <a:ext cx="8732522" cy="7358114"/>
          </a:xfrm>
          <a:prstGeom prst="rect">
            <a:avLst/>
          </a:prstGeom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85816" y="1714476"/>
            <a:ext cx="19076935" cy="2073933"/>
            <a:chOff x="0" y="0"/>
            <a:chExt cx="5024378" cy="5462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24378" cy="546221"/>
            </a:xfrm>
            <a:custGeom>
              <a:avLst/>
              <a:gdLst/>
              <a:ahLst/>
              <a:cxnLst/>
              <a:rect l="l" t="t" r="r" b="b"/>
              <a:pathLst>
                <a:path w="5024378" h="546221">
                  <a:moveTo>
                    <a:pt x="0" y="0"/>
                  </a:moveTo>
                  <a:lnTo>
                    <a:pt x="5024378" y="0"/>
                  </a:lnTo>
                  <a:lnTo>
                    <a:pt x="5024378" y="546221"/>
                  </a:lnTo>
                  <a:lnTo>
                    <a:pt x="0" y="546221"/>
                  </a:ln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B5CCE2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024378" cy="603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57126" y="928658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8564" y="2357418"/>
            <a:ext cx="16230600" cy="951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dirty="0" smtClean="0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Basic Elements of Communication</a:t>
            </a:r>
            <a:endParaRPr lang="en-US" sz="5600" b="1" dirty="0">
              <a:solidFill>
                <a:srgbClr val="326C9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4" name="Picture 13" descr="Basic elements of communication_ - visual selection 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448" y="2714608"/>
            <a:ext cx="12215898" cy="8143932"/>
          </a:xfrm>
          <a:prstGeom prst="rect">
            <a:avLst/>
          </a:prstGeom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8941" y="7277577"/>
            <a:ext cx="7225059" cy="1363688"/>
            <a:chOff x="0" y="0"/>
            <a:chExt cx="812800" cy="1534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53411"/>
            </a:xfrm>
            <a:custGeom>
              <a:avLst/>
              <a:gdLst/>
              <a:ahLst/>
              <a:cxnLst/>
              <a:rect l="l" t="t" r="r" b="b"/>
              <a:pathLst>
                <a:path w="812800" h="153411">
                  <a:moveTo>
                    <a:pt x="406400" y="0"/>
                  </a:moveTo>
                  <a:cubicBezTo>
                    <a:pt x="181951" y="0"/>
                    <a:pt x="0" y="34342"/>
                    <a:pt x="0" y="76706"/>
                  </a:cubicBezTo>
                  <a:cubicBezTo>
                    <a:pt x="0" y="119069"/>
                    <a:pt x="181951" y="153411"/>
                    <a:pt x="406400" y="153411"/>
                  </a:cubicBezTo>
                  <a:cubicBezTo>
                    <a:pt x="630849" y="153411"/>
                    <a:pt x="812800" y="119069"/>
                    <a:pt x="812800" y="76706"/>
                  </a:cubicBezTo>
                  <a:cubicBezTo>
                    <a:pt x="812800" y="343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42768"/>
              <a:ext cx="660400" cy="18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52780" y="2407800"/>
            <a:ext cx="6357380" cy="5675406"/>
          </a:xfrm>
          <a:custGeom>
            <a:avLst/>
            <a:gdLst/>
            <a:ahLst/>
            <a:cxnLst/>
            <a:rect l="l" t="t" r="r" b="b"/>
            <a:pathLst>
              <a:path w="6357380" h="5675406">
                <a:moveTo>
                  <a:pt x="0" y="0"/>
                </a:moveTo>
                <a:lnTo>
                  <a:pt x="6357380" y="0"/>
                </a:lnTo>
                <a:lnTo>
                  <a:pt x="6357380" y="5675407"/>
                </a:lnTo>
                <a:lnTo>
                  <a:pt x="0" y="5675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00602" y="5169281"/>
            <a:ext cx="919534" cy="919534"/>
          </a:xfrm>
          <a:custGeom>
            <a:avLst/>
            <a:gdLst/>
            <a:ahLst/>
            <a:cxnLst/>
            <a:rect l="l" t="t" r="r" b="b"/>
            <a:pathLst>
              <a:path w="919534" h="919534">
                <a:moveTo>
                  <a:pt x="0" y="0"/>
                </a:moveTo>
                <a:lnTo>
                  <a:pt x="919534" y="0"/>
                </a:lnTo>
                <a:lnTo>
                  <a:pt x="919534" y="919535"/>
                </a:lnTo>
                <a:lnTo>
                  <a:pt x="0" y="91953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53512" y="1028700"/>
            <a:ext cx="2645212" cy="652904"/>
            <a:chOff x="0" y="0"/>
            <a:chExt cx="1646513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6513" cy="406400"/>
            </a:xfrm>
            <a:custGeom>
              <a:avLst/>
              <a:gdLst/>
              <a:ahLst/>
              <a:cxnLst/>
              <a:rect l="l" t="t" r="r" b="b"/>
              <a:pathLst>
                <a:path w="1646513" h="406400">
                  <a:moveTo>
                    <a:pt x="1443313" y="0"/>
                  </a:moveTo>
                  <a:cubicBezTo>
                    <a:pt x="1555537" y="0"/>
                    <a:pt x="1646513" y="90976"/>
                    <a:pt x="1646513" y="203200"/>
                  </a:cubicBezTo>
                  <a:cubicBezTo>
                    <a:pt x="1646513" y="315424"/>
                    <a:pt x="1555537" y="406400"/>
                    <a:pt x="14433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C89C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64651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196927" y="3751657"/>
            <a:ext cx="2225627" cy="2225627"/>
          </a:xfrm>
          <a:custGeom>
            <a:avLst/>
            <a:gdLst/>
            <a:ahLst/>
            <a:cxnLst/>
            <a:rect l="l" t="t" r="r" b="b"/>
            <a:pathLst>
              <a:path w="2225627" h="2225627">
                <a:moveTo>
                  <a:pt x="0" y="0"/>
                </a:moveTo>
                <a:lnTo>
                  <a:pt x="2225627" y="0"/>
                </a:lnTo>
                <a:lnTo>
                  <a:pt x="2225627" y="2225627"/>
                </a:lnTo>
                <a:lnTo>
                  <a:pt x="0" y="222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 flipV="1">
            <a:off x="14900853" y="7200900"/>
            <a:ext cx="2659494" cy="4114800"/>
          </a:xfrm>
          <a:custGeom>
            <a:avLst/>
            <a:gdLst/>
            <a:ahLst/>
            <a:cxnLst/>
            <a:rect l="l" t="t" r="r" b="b"/>
            <a:pathLst>
              <a:path w="2659494" h="4114800">
                <a:moveTo>
                  <a:pt x="0" y="4114800"/>
                </a:moveTo>
                <a:lnTo>
                  <a:pt x="2659494" y="4114800"/>
                </a:lnTo>
                <a:lnTo>
                  <a:pt x="26594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028700"/>
            <a:ext cx="890241" cy="222560"/>
          </a:xfrm>
          <a:custGeom>
            <a:avLst/>
            <a:gdLst/>
            <a:ahLst/>
            <a:cxnLst/>
            <a:rect l="l" t="t" r="r" b="b"/>
            <a:pathLst>
              <a:path w="890241" h="222560">
                <a:moveTo>
                  <a:pt x="0" y="0"/>
                </a:moveTo>
                <a:lnTo>
                  <a:pt x="890241" y="0"/>
                </a:lnTo>
                <a:lnTo>
                  <a:pt x="890241" y="222560"/>
                </a:lnTo>
                <a:lnTo>
                  <a:pt x="0" y="222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00602" y="3402001"/>
            <a:ext cx="6826410" cy="145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326C9C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22947" y="5083556"/>
            <a:ext cx="4365170" cy="150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Speak with Meaningful 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Words. Connect with Purpose.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01256" y="1285848"/>
            <a:ext cx="3204609" cy="401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4000" dirty="0" smtClean="0">
                <a:solidFill>
                  <a:schemeClr val="accent1"/>
                </a:solidFill>
                <a:latin typeface="Rockwell Condensed" pitchFamily="18" charset="0"/>
                <a:ea typeface="Poppins"/>
                <a:cs typeface="Poppins"/>
                <a:sym typeface="Poppins"/>
              </a:rPr>
              <a:t>VIKAS.B</a:t>
            </a:r>
            <a:endParaRPr lang="en-US" sz="4000" dirty="0">
              <a:solidFill>
                <a:schemeClr val="accent1"/>
              </a:solidFill>
              <a:latin typeface="Rockwell Condensed" pitchFamily="18" charset="0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168</Words>
  <Application>Microsoft Office PowerPoint</Application>
  <PresentationFormat>Custom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Poppins Bold</vt:lpstr>
      <vt:lpstr>Poppins</vt:lpstr>
      <vt:lpstr>Rockwell Condensed</vt:lpstr>
      <vt:lpstr>Corbel</vt:lpstr>
      <vt:lpstr>Wingdings</vt:lpstr>
      <vt:lpstr>Google Sans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Communication in Leadership Presentation</dc:title>
  <dc:creator>VIKAS .B</dc:creator>
  <cp:lastModifiedBy>SKI</cp:lastModifiedBy>
  <cp:revision>20</cp:revision>
  <dcterms:created xsi:type="dcterms:W3CDTF">2006-08-16T00:00:00Z</dcterms:created>
  <dcterms:modified xsi:type="dcterms:W3CDTF">2025-11-20T05:57:14Z</dcterms:modified>
  <dc:identifier>DAG2tGLK-xw</dc:identifier>
</cp:coreProperties>
</file>